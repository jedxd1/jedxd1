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notesMasterIdLst>
    <p:notesMasterId r:id="rId7"/>
  </p:notesMasterIdLst>
  <p:sldIdLst>
    <p:sldId id="394" r:id="rId2"/>
    <p:sldId id="422" r:id="rId3"/>
    <p:sldId id="427" r:id="rId4"/>
    <p:sldId id="429" r:id="rId5"/>
    <p:sldId id="433" r:id="rId6"/>
  </p:sldIdLst>
  <p:sldSz cx="10080625" cy="5715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FF3300"/>
    <a:srgbClr val="00CC00"/>
    <a:srgbClr val="CC00CC"/>
    <a:srgbClr val="9966FF"/>
    <a:srgbClr val="00FF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493" autoAdjust="0"/>
  </p:normalViewPr>
  <p:slideViewPr>
    <p:cSldViewPr>
      <p:cViewPr>
        <p:scale>
          <a:sx n="73" d="100"/>
          <a:sy n="73" d="100"/>
        </p:scale>
        <p:origin x="-1498" y="-595"/>
      </p:cViewPr>
      <p:guideLst>
        <p:guide orient="horz" pos="1800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CA288-C913-478A-974E-1B9D0BF1B851}" type="datetimeFigureOut">
              <a:rPr lang="en-GB" smtClean="0"/>
              <a:t>10/12/2023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8025" y="1143000"/>
            <a:ext cx="54419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6DAADD-AC7F-4C72-887C-261BBD2342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287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6047" y="1775358"/>
            <a:ext cx="8568531" cy="122502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094" y="3238500"/>
            <a:ext cx="7056438" cy="1460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44216" y="5334000"/>
            <a:ext cx="4072503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607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1" y="228865"/>
            <a:ext cx="9072563" cy="9525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31" y="1333500"/>
            <a:ext cx="9072563" cy="377163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44216" y="5334000"/>
            <a:ext cx="4072503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80495" y="5345907"/>
            <a:ext cx="210013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EDAF45-A1ED-443F-B7DC-99AC8969684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19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300" y="3672420"/>
            <a:ext cx="8568531" cy="1135063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300" y="2422261"/>
            <a:ext cx="8568531" cy="125015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44216" y="5334000"/>
            <a:ext cx="4072503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80495" y="5345907"/>
            <a:ext cx="210013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9E8333-71C2-4DC6-B430-940BC8F3F78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252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44216" y="5334000"/>
            <a:ext cx="4072503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80495" y="5425654"/>
            <a:ext cx="2100130" cy="261938"/>
          </a:xfrm>
          <a:prstGeom prst="rect">
            <a:avLst/>
          </a:prstGeom>
          <a:ln/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CCE60E7C-9340-4E78-8FF1-5B9A5C8058C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921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PPT values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108193" y="5500688"/>
            <a:ext cx="6552406" cy="120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11" descr="PPT inside"/>
          <p:cNvPicPr>
            <a:picLocks noChangeAspect="1" noChangeArrowheads="1"/>
          </p:cNvPicPr>
          <p:nvPr/>
        </p:nvPicPr>
        <p:blipFill>
          <a:blip r:embed="rId7" cstate="print"/>
          <a:srcRect t="19157" b="25415"/>
          <a:stretch>
            <a:fillRect/>
          </a:stretch>
        </p:blipFill>
        <p:spPr bwMode="auto">
          <a:xfrm>
            <a:off x="0" y="0"/>
            <a:ext cx="10082376" cy="574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1" name="Picture 1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525771" y="102045"/>
            <a:ext cx="1370106" cy="360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5721" name="Text Box 9"/>
          <p:cNvSpPr txBox="1">
            <a:spLocks noChangeArrowheads="1"/>
          </p:cNvSpPr>
          <p:nvPr/>
        </p:nvSpPr>
        <p:spPr bwMode="auto">
          <a:xfrm rot="-5400000">
            <a:off x="-2372018" y="2964511"/>
            <a:ext cx="5150062" cy="369332"/>
          </a:xfrm>
          <a:prstGeom prst="rect">
            <a:avLst/>
          </a:prstGeom>
          <a:solidFill>
            <a:srgbClr val="004282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800" b="0" dirty="0">
                <a:solidFill>
                  <a:schemeClr val="bg1"/>
                </a:solidFill>
                <a:latin typeface="+mn-lt"/>
              </a:rPr>
              <a:t>GMR Institute of Technology</a:t>
            </a:r>
            <a:r>
              <a:rPr lang="en-US" sz="1800" b="0" dirty="0">
                <a:solidFill>
                  <a:schemeClr val="bg1"/>
                </a:solidFill>
                <a:latin typeface="Verdana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84018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/>
          <a:cs typeface="ＭＳ Ｐ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/>
          <a:cs typeface="ＭＳ Ｐ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/>
          <a:cs typeface="ＭＳ Ｐ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/>
          <a:cs typeface="ＭＳ Ｐ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/>
          <a:cs typeface="ＭＳ Ｐ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/>
          <a:cs typeface="ＭＳ Ｐ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/>
          <a:cs typeface="ＭＳ Ｐ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/>
          <a:cs typeface="ＭＳ Ｐ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52149" y="127000"/>
            <a:ext cx="51165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System Design using Verilog</a:t>
            </a: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119" y="3492503"/>
            <a:ext cx="1869116" cy="183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 bwMode="auto">
          <a:xfrm>
            <a:off x="7859712" y="4076700"/>
            <a:ext cx="2220915" cy="1638303"/>
          </a:xfrm>
          <a:prstGeom prst="rect">
            <a:avLst/>
          </a:prstGeom>
          <a:solidFill>
            <a:srgbClr val="3333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 dirty="0" smtClean="0">
              <a:ln>
                <a:noFill/>
              </a:ln>
              <a:solidFill>
                <a:srgbClr val="000066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9600" y="924791"/>
            <a:ext cx="6858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</a:rPr>
              <a:t>Contents of the lecture</a:t>
            </a:r>
          </a:p>
          <a:p>
            <a:pPr marL="342900" indent="-342900">
              <a:buAutoNum type="arabicParenBoth"/>
            </a:pPr>
            <a:r>
              <a:rPr lang="en-IN" b="1" dirty="0"/>
              <a:t>User Defined Primitives (UDP)</a:t>
            </a:r>
          </a:p>
          <a:p>
            <a:pPr marL="342900" indent="-342900">
              <a:buFontTx/>
              <a:buAutoNum type="arabicParenBoth"/>
            </a:pPr>
            <a:r>
              <a:rPr lang="en-IN" b="1" dirty="0"/>
              <a:t> Some Rules </a:t>
            </a:r>
            <a:r>
              <a:rPr lang="en-IN" b="1" dirty="0" smtClean="0"/>
              <a:t>of </a:t>
            </a:r>
            <a:r>
              <a:rPr lang="en-IN" b="1" dirty="0"/>
              <a:t>UDP</a:t>
            </a:r>
          </a:p>
          <a:p>
            <a:pPr marL="342900" indent="-342900">
              <a:buFontTx/>
              <a:buAutoNum type="arabicParenBoth"/>
            </a:pPr>
            <a:r>
              <a:rPr lang="en-IN" b="1" dirty="0"/>
              <a:t>UDP </a:t>
            </a:r>
            <a:r>
              <a:rPr lang="en-IN" b="1" dirty="0" smtClean="0"/>
              <a:t>of </a:t>
            </a:r>
            <a:r>
              <a:rPr lang="en-IN" b="1" dirty="0"/>
              <a:t>Two input AND gate</a:t>
            </a:r>
          </a:p>
          <a:p>
            <a:pPr marL="342900" indent="-342900">
              <a:buAutoNum type="arabicParenBoth"/>
            </a:pPr>
            <a:r>
              <a:rPr lang="en-IN" b="1" dirty="0"/>
              <a:t>UDP </a:t>
            </a:r>
            <a:r>
              <a:rPr lang="en-IN" b="1" dirty="0" smtClean="0"/>
              <a:t>of </a:t>
            </a:r>
            <a:r>
              <a:rPr lang="en-IN" b="1" dirty="0"/>
              <a:t>Two input OR gate</a:t>
            </a:r>
          </a:p>
        </p:txBody>
      </p:sp>
    </p:spTree>
    <p:extLst>
      <p:ext uri="{BB962C8B-B14F-4D97-AF65-F5344CB8AC3E}">
        <p14:creationId xmlns:p14="http://schemas.microsoft.com/office/powerpoint/2010/main" val="3759152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E60E7C-9340-4E78-8FF1-5B9A5C8058C3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168012" y="-57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3267494" y="120316"/>
            <a:ext cx="34804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spcBef>
                <a:spcPct val="50000"/>
              </a:spcBef>
            </a:pPr>
            <a:r>
              <a:rPr lang="en-IN" b="1" dirty="0">
                <a:solidFill>
                  <a:schemeClr val="bg1"/>
                </a:solidFill>
              </a:rPr>
              <a:t>User Defined Primitives (UDP)</a:t>
            </a:r>
          </a:p>
        </p:txBody>
      </p:sp>
      <p:sp>
        <p:nvSpPr>
          <p:cNvPr id="12" name="Rectangle 11"/>
          <p:cNvSpPr/>
          <p:nvPr/>
        </p:nvSpPr>
        <p:spPr bwMode="auto">
          <a:xfrm>
            <a:off x="7859712" y="4076700"/>
            <a:ext cx="2220915" cy="1638303"/>
          </a:xfrm>
          <a:prstGeom prst="rect">
            <a:avLst/>
          </a:prstGeom>
          <a:solidFill>
            <a:srgbClr val="3333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 dirty="0" smtClean="0">
              <a:ln>
                <a:noFill/>
              </a:ln>
              <a:solidFill>
                <a:srgbClr val="000066"/>
              </a:solidFill>
              <a:effectLst/>
              <a:latin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0712" y="952500"/>
            <a:ext cx="8915400" cy="1754326"/>
          </a:xfrm>
          <a:prstGeom prst="rect">
            <a:avLst/>
          </a:prstGeom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AutoNum type="arabicParenBoth"/>
            </a:pPr>
            <a:r>
              <a:rPr lang="en-IN" b="1" dirty="0" smtClean="0"/>
              <a:t>UDP </a:t>
            </a:r>
            <a:r>
              <a:rPr lang="en-IN" b="1" dirty="0"/>
              <a:t>are used to define custom </a:t>
            </a:r>
            <a:r>
              <a:rPr lang="en-IN" b="1" dirty="0" err="1"/>
              <a:t>verilog</a:t>
            </a:r>
            <a:r>
              <a:rPr lang="en-IN" b="1" dirty="0"/>
              <a:t> primitives by using Look up </a:t>
            </a:r>
            <a:r>
              <a:rPr lang="en-IN" b="1" dirty="0" smtClean="0"/>
              <a:t>Tables</a:t>
            </a:r>
          </a:p>
          <a:p>
            <a:pPr marL="342900" indent="-342900">
              <a:buAutoNum type="arabicParenBoth"/>
            </a:pPr>
            <a:endParaRPr lang="en-IN" b="1" dirty="0"/>
          </a:p>
          <a:p>
            <a:pPr marL="342900" indent="-342900">
              <a:buAutoNum type="arabicParenBoth"/>
            </a:pPr>
            <a:r>
              <a:rPr lang="en-IN" b="1" dirty="0" smtClean="0"/>
              <a:t>UDP </a:t>
            </a:r>
            <a:r>
              <a:rPr lang="en-IN" b="1" dirty="0"/>
              <a:t>can specify:</a:t>
            </a:r>
          </a:p>
          <a:p>
            <a:r>
              <a:rPr lang="en-IN" b="1" dirty="0"/>
              <a:t>      (</a:t>
            </a:r>
            <a:r>
              <a:rPr lang="en-IN" b="1" dirty="0" err="1"/>
              <a:t>i</a:t>
            </a:r>
            <a:r>
              <a:rPr lang="en-IN" b="1" dirty="0"/>
              <a:t>) Truth table of combinational circuits</a:t>
            </a:r>
          </a:p>
          <a:p>
            <a:r>
              <a:rPr lang="en-IN" b="1" dirty="0"/>
              <a:t>      (ii) State table of sequential circuits</a:t>
            </a:r>
          </a:p>
          <a:p>
            <a:r>
              <a:rPr lang="en-IN" b="1" dirty="0"/>
              <a:t>      (iii) Don’t care, rising edge, falling edge can be specified</a:t>
            </a:r>
          </a:p>
        </p:txBody>
      </p:sp>
    </p:spTree>
    <p:extLst>
      <p:ext uri="{BB962C8B-B14F-4D97-AF65-F5344CB8AC3E}">
        <p14:creationId xmlns:p14="http://schemas.microsoft.com/office/powerpoint/2010/main" val="3341270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E60E7C-9340-4E78-8FF1-5B9A5C8058C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168012" y="-57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 bwMode="auto">
          <a:xfrm>
            <a:off x="7859712" y="4076700"/>
            <a:ext cx="2220915" cy="1638303"/>
          </a:xfrm>
          <a:prstGeom prst="rect">
            <a:avLst/>
          </a:prstGeom>
          <a:solidFill>
            <a:srgbClr val="3333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 dirty="0" smtClean="0">
              <a:ln>
                <a:noFill/>
              </a:ln>
              <a:solidFill>
                <a:srgbClr val="000066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31782" y="76200"/>
            <a:ext cx="34804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b="1" dirty="0">
                <a:solidFill>
                  <a:srgbClr val="FFFFFF"/>
                </a:solidFill>
              </a:rPr>
              <a:t>User Defined Primitives (UDP)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4512" y="647700"/>
            <a:ext cx="6094938" cy="523220"/>
          </a:xfrm>
          <a:prstGeom prst="rect">
            <a:avLst/>
          </a:prstGeom>
          <a:ln w="254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marL="342900" indent="-342900">
              <a:buAutoNum type="arabicParenBoth"/>
            </a:pPr>
            <a:r>
              <a:rPr lang="en-IN" sz="1400" b="1" dirty="0" smtClean="0"/>
              <a:t>For combinational circuits the truth table entries are specified as:</a:t>
            </a:r>
          </a:p>
          <a:p>
            <a:r>
              <a:rPr lang="en-IN" sz="1400" b="1" dirty="0" smtClean="0"/>
              <a:t>&lt;input </a:t>
            </a:r>
            <a:r>
              <a:rPr lang="en-IN" sz="1400" b="1" dirty="0"/>
              <a:t>1&gt; </a:t>
            </a:r>
            <a:r>
              <a:rPr lang="en-IN" sz="1400" b="1" dirty="0" smtClean="0"/>
              <a:t>    &lt;</a:t>
            </a:r>
            <a:r>
              <a:rPr lang="en-IN" sz="1400" b="1" dirty="0"/>
              <a:t>input </a:t>
            </a:r>
            <a:r>
              <a:rPr lang="en-IN" sz="1400" b="1" dirty="0" smtClean="0"/>
              <a:t>2&gt;     &lt;</a:t>
            </a:r>
            <a:r>
              <a:rPr lang="en-IN" sz="1400" b="1" dirty="0"/>
              <a:t>input </a:t>
            </a:r>
            <a:r>
              <a:rPr lang="en-IN" sz="1400" b="1" dirty="0" smtClean="0"/>
              <a:t>3&gt; ……… </a:t>
            </a:r>
            <a:r>
              <a:rPr lang="en-IN" sz="1400" b="1" dirty="0"/>
              <a:t>&lt;input </a:t>
            </a:r>
            <a:r>
              <a:rPr lang="en-IN" sz="1400" b="1" dirty="0" smtClean="0"/>
              <a:t>n&gt;  : &lt;output&gt;;</a:t>
            </a:r>
          </a:p>
        </p:txBody>
      </p:sp>
      <p:sp>
        <p:nvSpPr>
          <p:cNvPr id="9" name="Rectangle 8"/>
          <p:cNvSpPr/>
          <p:nvPr/>
        </p:nvSpPr>
        <p:spPr>
          <a:xfrm>
            <a:off x="544512" y="1333500"/>
            <a:ext cx="6973569" cy="4062651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FF0000"/>
                </a:solidFill>
              </a:rPr>
              <a:t>Some Rules for UDP</a:t>
            </a:r>
            <a:endParaRPr lang="en-US" sz="1400" b="1" dirty="0">
              <a:solidFill>
                <a:srgbClr val="FF0000"/>
              </a:solidFill>
            </a:endParaRPr>
          </a:p>
          <a:p>
            <a:pPr marL="342900" indent="-342900">
              <a:buAutoNum type="arabicParenBoth"/>
            </a:pPr>
            <a:endParaRPr lang="en-IN" sz="1400" b="1" dirty="0" smtClean="0"/>
          </a:p>
          <a:p>
            <a:pPr marL="342900" indent="-342900">
              <a:buAutoNum type="arabicParenBoth"/>
            </a:pPr>
            <a:r>
              <a:rPr lang="en-IN" sz="1400" b="1" dirty="0" smtClean="0"/>
              <a:t>The inputs to a UDP can only be scalar</a:t>
            </a:r>
          </a:p>
          <a:p>
            <a:pPr marL="342900" indent="-342900">
              <a:buAutoNum type="arabicParenBoth"/>
            </a:pPr>
            <a:endParaRPr lang="en-IN" sz="1400" b="1" dirty="0" smtClean="0"/>
          </a:p>
          <a:p>
            <a:pPr marL="342900" indent="-342900">
              <a:buAutoNum type="arabicParenBoth"/>
            </a:pPr>
            <a:r>
              <a:rPr lang="en-IN" sz="1400" b="1" dirty="0" smtClean="0"/>
              <a:t>Multiple inputs can be used</a:t>
            </a:r>
          </a:p>
          <a:p>
            <a:pPr marL="342900" indent="-342900">
              <a:buAutoNum type="arabicParenBoth"/>
            </a:pPr>
            <a:endParaRPr lang="en-IN" sz="1400" b="1" dirty="0" smtClean="0"/>
          </a:p>
          <a:p>
            <a:pPr marL="342900" indent="-342900">
              <a:buAutoNum type="arabicParenBoth"/>
            </a:pPr>
            <a:r>
              <a:rPr lang="en-IN" sz="1400" b="1" dirty="0" smtClean="0"/>
              <a:t>The inputs are declared by keyword “input”</a:t>
            </a:r>
          </a:p>
          <a:p>
            <a:pPr marL="342900" indent="-342900">
              <a:buAutoNum type="arabicParenBoth"/>
            </a:pPr>
            <a:endParaRPr lang="en-IN" sz="1400" b="1" dirty="0" smtClean="0"/>
          </a:p>
          <a:p>
            <a:pPr marL="342900" indent="-342900">
              <a:buAutoNum type="arabicParenBoth"/>
            </a:pPr>
            <a:r>
              <a:rPr lang="en-IN" sz="1400" b="1" dirty="0" smtClean="0"/>
              <a:t>Input entries in the table must be in the same order as the “input” list</a:t>
            </a:r>
          </a:p>
          <a:p>
            <a:pPr marL="342900" indent="-342900">
              <a:buAutoNum type="arabicParenBoth"/>
            </a:pPr>
            <a:endParaRPr lang="en-IN" sz="1400" b="1" dirty="0" smtClean="0"/>
          </a:p>
          <a:p>
            <a:pPr marL="342900" indent="-342900">
              <a:buAutoNum type="arabicParenBoth"/>
            </a:pPr>
            <a:r>
              <a:rPr lang="en-IN" sz="1400" b="1" dirty="0" smtClean="0"/>
              <a:t>The output to a UDP can only be one</a:t>
            </a:r>
          </a:p>
          <a:p>
            <a:pPr marL="342900" indent="-342900">
              <a:buAutoNum type="arabicParenBoth"/>
            </a:pPr>
            <a:endParaRPr lang="en-IN" sz="1400" b="1" dirty="0" smtClean="0"/>
          </a:p>
          <a:p>
            <a:pPr marL="342900" indent="-342900">
              <a:buAutoNum type="arabicParenBoth"/>
            </a:pPr>
            <a:r>
              <a:rPr lang="en-IN" sz="1400" b="1" dirty="0" smtClean="0"/>
              <a:t>The output must appear first in the terminal list</a:t>
            </a:r>
          </a:p>
          <a:p>
            <a:pPr marL="342900" indent="-342900">
              <a:buAutoNum type="arabicParenBoth"/>
            </a:pPr>
            <a:endParaRPr lang="en-IN" sz="1400" b="1" dirty="0" smtClean="0"/>
          </a:p>
          <a:p>
            <a:pPr marL="342900" indent="-342900">
              <a:buAutoNum type="arabicParenBoth"/>
            </a:pPr>
            <a:r>
              <a:rPr lang="en-IN" sz="1400" b="1" dirty="0" smtClean="0"/>
              <a:t>For combinational UDP the output terminal must be declared by “output”</a:t>
            </a:r>
          </a:p>
          <a:p>
            <a:pPr marL="342900" indent="-342900">
              <a:buAutoNum type="arabicParenBoth"/>
            </a:pPr>
            <a:endParaRPr lang="en-IN" sz="1400" b="1" dirty="0" smtClean="0"/>
          </a:p>
          <a:p>
            <a:pPr marL="342900" indent="-342900">
              <a:buFontTx/>
              <a:buAutoNum type="arabicParenBoth"/>
            </a:pPr>
            <a:r>
              <a:rPr lang="en-IN" sz="1400" b="1" dirty="0"/>
              <a:t>For </a:t>
            </a:r>
            <a:r>
              <a:rPr lang="en-IN" sz="1400" b="1" dirty="0" smtClean="0"/>
              <a:t>sequential UDP </a:t>
            </a:r>
            <a:r>
              <a:rPr lang="en-IN" sz="1400" b="1" dirty="0"/>
              <a:t>the output terminal must be declared by </a:t>
            </a:r>
            <a:r>
              <a:rPr lang="en-IN" sz="1400" b="1" dirty="0" smtClean="0"/>
              <a:t>“</a:t>
            </a:r>
            <a:r>
              <a:rPr lang="en-IN" sz="1400" b="1" dirty="0" err="1" smtClean="0"/>
              <a:t>reg</a:t>
            </a:r>
            <a:r>
              <a:rPr lang="en-IN" sz="1400" b="1" dirty="0" smtClean="0"/>
              <a:t>”</a:t>
            </a:r>
            <a:endParaRPr lang="en-IN" sz="1400" b="1" dirty="0"/>
          </a:p>
          <a:p>
            <a:pPr marL="342900" indent="-342900">
              <a:buAutoNum type="arabicParenBoth"/>
            </a:pPr>
            <a:endParaRPr lang="en-IN" sz="1600" b="1" dirty="0" smtClean="0"/>
          </a:p>
        </p:txBody>
      </p:sp>
    </p:spTree>
    <p:extLst>
      <p:ext uri="{BB962C8B-B14F-4D97-AF65-F5344CB8AC3E}">
        <p14:creationId xmlns:p14="http://schemas.microsoft.com/office/powerpoint/2010/main" val="3188383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E60E7C-9340-4E78-8FF1-5B9A5C8058C3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168012" y="-57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 bwMode="auto">
          <a:xfrm>
            <a:off x="7859712" y="4076700"/>
            <a:ext cx="2220915" cy="1638303"/>
          </a:xfrm>
          <a:prstGeom prst="rect">
            <a:avLst/>
          </a:prstGeom>
          <a:solidFill>
            <a:srgbClr val="3333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 dirty="0" smtClean="0">
              <a:ln>
                <a:noFill/>
              </a:ln>
              <a:solidFill>
                <a:srgbClr val="000066"/>
              </a:solidFill>
              <a:effectLst/>
              <a:latin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26650" y="647700"/>
            <a:ext cx="2678111" cy="3139321"/>
          </a:xfrm>
          <a:prstGeom prst="rect">
            <a:avLst/>
          </a:prstGeom>
          <a:solidFill>
            <a:schemeClr val="accent3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primitive and_2 (</a:t>
            </a:r>
            <a:r>
              <a:rPr lang="en-IN" dirty="0" err="1"/>
              <a:t>y,a,b</a:t>
            </a:r>
            <a:r>
              <a:rPr lang="en-IN" dirty="0"/>
              <a:t>);</a:t>
            </a:r>
          </a:p>
          <a:p>
            <a:r>
              <a:rPr lang="en-IN" dirty="0"/>
              <a:t>input </a:t>
            </a:r>
            <a:r>
              <a:rPr lang="en-IN" dirty="0" err="1"/>
              <a:t>a,b</a:t>
            </a:r>
            <a:r>
              <a:rPr lang="en-IN" dirty="0"/>
              <a:t>;</a:t>
            </a:r>
          </a:p>
          <a:p>
            <a:r>
              <a:rPr lang="en-IN" dirty="0"/>
              <a:t>output y;</a:t>
            </a:r>
          </a:p>
          <a:p>
            <a:r>
              <a:rPr lang="en-IN" dirty="0"/>
              <a:t>table</a:t>
            </a:r>
          </a:p>
          <a:p>
            <a:r>
              <a:rPr lang="en-IN" b="1" dirty="0">
                <a:solidFill>
                  <a:srgbClr val="FF0000"/>
                </a:solidFill>
              </a:rPr>
              <a:t>// a    b    :    y</a:t>
            </a:r>
          </a:p>
          <a:p>
            <a:r>
              <a:rPr lang="en-IN" dirty="0"/>
              <a:t>   0    0    :    0;</a:t>
            </a:r>
          </a:p>
          <a:p>
            <a:r>
              <a:rPr lang="en-IN" dirty="0"/>
              <a:t>   0    1    :    0;</a:t>
            </a:r>
          </a:p>
          <a:p>
            <a:r>
              <a:rPr lang="en-IN" dirty="0"/>
              <a:t>   1    0    :    0;</a:t>
            </a:r>
          </a:p>
          <a:p>
            <a:r>
              <a:rPr lang="en-IN" dirty="0"/>
              <a:t>   1    1    :    1;</a:t>
            </a:r>
          </a:p>
          <a:p>
            <a:r>
              <a:rPr lang="en-IN" dirty="0" err="1"/>
              <a:t>endtable</a:t>
            </a:r>
            <a:endParaRPr lang="en-IN" dirty="0"/>
          </a:p>
          <a:p>
            <a:r>
              <a:rPr lang="en-IN" dirty="0" err="1"/>
              <a:t>endprimitive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7250112" y="647700"/>
            <a:ext cx="2678111" cy="3139321"/>
          </a:xfrm>
          <a:prstGeom prst="rect">
            <a:avLst/>
          </a:prstGeom>
          <a:solidFill>
            <a:schemeClr val="accent3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IN" b="1" dirty="0"/>
              <a:t>Use of Don’t care</a:t>
            </a:r>
          </a:p>
          <a:p>
            <a:r>
              <a:rPr lang="en-IN" dirty="0" smtClean="0"/>
              <a:t>primitive </a:t>
            </a:r>
            <a:r>
              <a:rPr lang="en-IN" dirty="0"/>
              <a:t>and_2 (</a:t>
            </a:r>
            <a:r>
              <a:rPr lang="en-IN" dirty="0" err="1"/>
              <a:t>y,a,b</a:t>
            </a:r>
            <a:r>
              <a:rPr lang="en-IN" dirty="0"/>
              <a:t>);</a:t>
            </a:r>
          </a:p>
          <a:p>
            <a:r>
              <a:rPr lang="en-IN" dirty="0"/>
              <a:t>input </a:t>
            </a:r>
            <a:r>
              <a:rPr lang="en-IN" dirty="0" err="1"/>
              <a:t>a,b</a:t>
            </a:r>
            <a:r>
              <a:rPr lang="en-IN" dirty="0"/>
              <a:t>;</a:t>
            </a:r>
          </a:p>
          <a:p>
            <a:r>
              <a:rPr lang="en-IN" dirty="0"/>
              <a:t>output y;</a:t>
            </a:r>
          </a:p>
          <a:p>
            <a:r>
              <a:rPr lang="en-IN" dirty="0"/>
              <a:t>table</a:t>
            </a:r>
          </a:p>
          <a:p>
            <a:r>
              <a:rPr lang="en-IN" b="1" dirty="0">
                <a:solidFill>
                  <a:srgbClr val="FF0000"/>
                </a:solidFill>
              </a:rPr>
              <a:t>// a    b    :    y</a:t>
            </a:r>
          </a:p>
          <a:p>
            <a:r>
              <a:rPr lang="en-IN" dirty="0"/>
              <a:t>   0    ?    :    0;</a:t>
            </a:r>
          </a:p>
          <a:p>
            <a:r>
              <a:rPr lang="en-IN" dirty="0"/>
              <a:t>   </a:t>
            </a:r>
            <a:r>
              <a:rPr lang="en-IN" dirty="0" smtClean="0"/>
              <a:t>1    </a:t>
            </a:r>
            <a:r>
              <a:rPr lang="en-IN" dirty="0"/>
              <a:t>0    :    0;</a:t>
            </a:r>
          </a:p>
          <a:p>
            <a:r>
              <a:rPr lang="en-IN" dirty="0"/>
              <a:t>   1    1    :    1;</a:t>
            </a:r>
          </a:p>
          <a:p>
            <a:r>
              <a:rPr lang="en-IN" dirty="0" err="1"/>
              <a:t>endtable</a:t>
            </a:r>
            <a:endParaRPr lang="en-IN" dirty="0"/>
          </a:p>
          <a:p>
            <a:r>
              <a:rPr lang="en-IN" dirty="0" err="1"/>
              <a:t>endprimitive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3211512" y="139761"/>
            <a:ext cx="31812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UDP </a:t>
            </a:r>
            <a:r>
              <a:rPr lang="en-IN" b="1" dirty="0" smtClean="0">
                <a:solidFill>
                  <a:schemeClr val="bg1"/>
                </a:solidFill>
              </a:rPr>
              <a:t>of </a:t>
            </a:r>
            <a:r>
              <a:rPr lang="en-IN" b="1" dirty="0">
                <a:solidFill>
                  <a:schemeClr val="bg1"/>
                </a:solidFill>
              </a:rPr>
              <a:t>Two input AND gate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4512" y="4991100"/>
            <a:ext cx="6094938" cy="523220"/>
          </a:xfrm>
          <a:prstGeom prst="rect">
            <a:avLst/>
          </a:prstGeom>
          <a:ln w="254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marL="342900" indent="-342900">
              <a:buAutoNum type="arabicParenBoth"/>
            </a:pPr>
            <a:r>
              <a:rPr lang="en-IN" sz="1400" b="1" dirty="0" smtClean="0"/>
              <a:t>For combinational circuits the truth table entries are specified as:</a:t>
            </a:r>
          </a:p>
          <a:p>
            <a:r>
              <a:rPr lang="en-IN" sz="1400" b="1" dirty="0" smtClean="0"/>
              <a:t>&lt;input </a:t>
            </a:r>
            <a:r>
              <a:rPr lang="en-IN" sz="1400" b="1" dirty="0"/>
              <a:t>1&gt; </a:t>
            </a:r>
            <a:r>
              <a:rPr lang="en-IN" sz="1400" b="1" dirty="0" smtClean="0"/>
              <a:t>    &lt;</a:t>
            </a:r>
            <a:r>
              <a:rPr lang="en-IN" sz="1400" b="1" dirty="0"/>
              <a:t>input </a:t>
            </a:r>
            <a:r>
              <a:rPr lang="en-IN" sz="1400" b="1" dirty="0" smtClean="0"/>
              <a:t>2&gt;     &lt;</a:t>
            </a:r>
            <a:r>
              <a:rPr lang="en-IN" sz="1400" b="1" dirty="0"/>
              <a:t>input </a:t>
            </a:r>
            <a:r>
              <a:rPr lang="en-IN" sz="1400" b="1" dirty="0" smtClean="0"/>
              <a:t>3&gt; ……… </a:t>
            </a:r>
            <a:r>
              <a:rPr lang="en-IN" sz="1400" b="1" dirty="0"/>
              <a:t>&lt;input </a:t>
            </a:r>
            <a:r>
              <a:rPr lang="en-IN" sz="1400" b="1" dirty="0" smtClean="0"/>
              <a:t>n&gt;  : &lt;output&gt;;</a:t>
            </a:r>
          </a:p>
        </p:txBody>
      </p:sp>
    </p:spTree>
    <p:extLst>
      <p:ext uri="{BB962C8B-B14F-4D97-AF65-F5344CB8AC3E}">
        <p14:creationId xmlns:p14="http://schemas.microsoft.com/office/powerpoint/2010/main" val="4240437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E60E7C-9340-4E78-8FF1-5B9A5C8058C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168012" y="-57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 bwMode="auto">
          <a:xfrm>
            <a:off x="7859712" y="4076700"/>
            <a:ext cx="2220915" cy="1638303"/>
          </a:xfrm>
          <a:prstGeom prst="rect">
            <a:avLst/>
          </a:prstGeom>
          <a:solidFill>
            <a:srgbClr val="3333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 dirty="0" smtClean="0">
              <a:ln>
                <a:noFill/>
              </a:ln>
              <a:solidFill>
                <a:srgbClr val="000066"/>
              </a:solidFill>
              <a:effectLst/>
              <a:latin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211512" y="139761"/>
            <a:ext cx="30359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UDP </a:t>
            </a:r>
            <a:r>
              <a:rPr lang="en-IN" b="1" dirty="0" smtClean="0">
                <a:solidFill>
                  <a:schemeClr val="bg1"/>
                </a:solidFill>
              </a:rPr>
              <a:t>of </a:t>
            </a:r>
            <a:r>
              <a:rPr lang="en-IN" b="1" dirty="0">
                <a:solidFill>
                  <a:schemeClr val="bg1"/>
                </a:solidFill>
              </a:rPr>
              <a:t>Two input </a:t>
            </a:r>
            <a:r>
              <a:rPr lang="en-IN" b="1" dirty="0" smtClean="0">
                <a:solidFill>
                  <a:schemeClr val="bg1"/>
                </a:solidFill>
              </a:rPr>
              <a:t>OR </a:t>
            </a:r>
            <a:r>
              <a:rPr lang="en-IN" b="1" dirty="0">
                <a:solidFill>
                  <a:schemeClr val="bg1"/>
                </a:solidFill>
              </a:rPr>
              <a:t>gate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4512" y="661555"/>
            <a:ext cx="2514600" cy="3139321"/>
          </a:xfrm>
          <a:prstGeom prst="rect">
            <a:avLst/>
          </a:prstGeom>
          <a:solidFill>
            <a:schemeClr val="accent3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p</a:t>
            </a:r>
            <a:r>
              <a:rPr lang="en-IN" dirty="0" smtClean="0"/>
              <a:t>rimitive or_2 (</a:t>
            </a:r>
            <a:r>
              <a:rPr lang="en-IN" dirty="0" err="1" smtClean="0"/>
              <a:t>y,a,b</a:t>
            </a:r>
            <a:r>
              <a:rPr lang="en-IN" dirty="0" smtClean="0"/>
              <a:t>);</a:t>
            </a:r>
            <a:endParaRPr lang="en-IN" dirty="0"/>
          </a:p>
          <a:p>
            <a:r>
              <a:rPr lang="en-IN" dirty="0"/>
              <a:t>input </a:t>
            </a:r>
            <a:r>
              <a:rPr lang="en-IN" dirty="0" err="1" smtClean="0"/>
              <a:t>a,b</a:t>
            </a:r>
            <a:r>
              <a:rPr lang="en-IN" dirty="0" smtClean="0"/>
              <a:t>;</a:t>
            </a:r>
            <a:endParaRPr lang="en-IN" dirty="0"/>
          </a:p>
          <a:p>
            <a:r>
              <a:rPr lang="en-IN" dirty="0" smtClean="0"/>
              <a:t>output y;</a:t>
            </a:r>
            <a:endParaRPr lang="en-IN" dirty="0"/>
          </a:p>
          <a:p>
            <a:r>
              <a:rPr lang="en-IN" dirty="0" smtClean="0"/>
              <a:t>table</a:t>
            </a:r>
          </a:p>
          <a:p>
            <a:r>
              <a:rPr lang="en-IN" b="1" dirty="0" smtClean="0">
                <a:solidFill>
                  <a:srgbClr val="FF0000"/>
                </a:solidFill>
              </a:rPr>
              <a:t>// a    b    :    y</a:t>
            </a:r>
          </a:p>
          <a:p>
            <a:r>
              <a:rPr lang="en-IN" dirty="0" smtClean="0"/>
              <a:t>   0    0    :    0;</a:t>
            </a:r>
            <a:endParaRPr lang="en-IN" dirty="0"/>
          </a:p>
          <a:p>
            <a:r>
              <a:rPr lang="en-IN" dirty="0" smtClean="0"/>
              <a:t>   0    1    </a:t>
            </a:r>
            <a:r>
              <a:rPr lang="en-IN" dirty="0"/>
              <a:t>:    </a:t>
            </a:r>
            <a:r>
              <a:rPr lang="en-IN" dirty="0" smtClean="0"/>
              <a:t>1;</a:t>
            </a:r>
            <a:endParaRPr lang="en-IN" dirty="0"/>
          </a:p>
          <a:p>
            <a:r>
              <a:rPr lang="en-IN" dirty="0" smtClean="0"/>
              <a:t>   1    </a:t>
            </a:r>
            <a:r>
              <a:rPr lang="en-IN" dirty="0"/>
              <a:t>0    :    </a:t>
            </a:r>
            <a:r>
              <a:rPr lang="en-IN" dirty="0" smtClean="0"/>
              <a:t>1;</a:t>
            </a:r>
            <a:endParaRPr lang="en-IN" dirty="0"/>
          </a:p>
          <a:p>
            <a:r>
              <a:rPr lang="en-IN" dirty="0"/>
              <a:t> </a:t>
            </a:r>
            <a:r>
              <a:rPr lang="en-IN" dirty="0" smtClean="0"/>
              <a:t>  1    1    </a:t>
            </a:r>
            <a:r>
              <a:rPr lang="en-IN" dirty="0"/>
              <a:t>:    </a:t>
            </a:r>
            <a:r>
              <a:rPr lang="en-IN" dirty="0" smtClean="0"/>
              <a:t>1;</a:t>
            </a:r>
          </a:p>
          <a:p>
            <a:r>
              <a:rPr lang="en-IN" dirty="0" err="1" smtClean="0"/>
              <a:t>endtable</a:t>
            </a:r>
            <a:endParaRPr lang="en-IN" dirty="0" smtClean="0"/>
          </a:p>
          <a:p>
            <a:r>
              <a:rPr lang="en-IN" dirty="0" err="1" smtClean="0"/>
              <a:t>endprimitive</a:t>
            </a:r>
            <a:endParaRPr lang="en-IN" dirty="0" smtClean="0"/>
          </a:p>
        </p:txBody>
      </p:sp>
      <p:sp>
        <p:nvSpPr>
          <p:cNvPr id="8" name="Rectangle 7"/>
          <p:cNvSpPr/>
          <p:nvPr/>
        </p:nvSpPr>
        <p:spPr>
          <a:xfrm>
            <a:off x="544512" y="4895851"/>
            <a:ext cx="6094938" cy="523220"/>
          </a:xfrm>
          <a:prstGeom prst="rect">
            <a:avLst/>
          </a:prstGeom>
          <a:ln w="254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marL="342900" indent="-342900">
              <a:buAutoNum type="arabicParenBoth"/>
            </a:pPr>
            <a:r>
              <a:rPr lang="en-IN" sz="1400" b="1" dirty="0" smtClean="0"/>
              <a:t>For combinational circuits the truth table entries are specified as:</a:t>
            </a:r>
          </a:p>
          <a:p>
            <a:r>
              <a:rPr lang="en-IN" sz="1400" b="1" dirty="0" smtClean="0"/>
              <a:t>&lt;input </a:t>
            </a:r>
            <a:r>
              <a:rPr lang="en-IN" sz="1400" b="1" dirty="0"/>
              <a:t>1&gt; </a:t>
            </a:r>
            <a:r>
              <a:rPr lang="en-IN" sz="1400" b="1" dirty="0" smtClean="0"/>
              <a:t>    &lt;</a:t>
            </a:r>
            <a:r>
              <a:rPr lang="en-IN" sz="1400" b="1" dirty="0"/>
              <a:t>input </a:t>
            </a:r>
            <a:r>
              <a:rPr lang="en-IN" sz="1400" b="1" dirty="0" smtClean="0"/>
              <a:t>2&gt;     &lt;</a:t>
            </a:r>
            <a:r>
              <a:rPr lang="en-IN" sz="1400" b="1" dirty="0"/>
              <a:t>input </a:t>
            </a:r>
            <a:r>
              <a:rPr lang="en-IN" sz="1400" b="1" dirty="0" smtClean="0"/>
              <a:t>3&gt; ……… </a:t>
            </a:r>
            <a:r>
              <a:rPr lang="en-IN" sz="1400" b="1" dirty="0"/>
              <a:t>&lt;input </a:t>
            </a:r>
            <a:r>
              <a:rPr lang="en-IN" sz="1400" b="1" dirty="0" smtClean="0"/>
              <a:t>n&gt;  : &lt;output&gt;;</a:t>
            </a:r>
          </a:p>
        </p:txBody>
      </p:sp>
    </p:spTree>
    <p:extLst>
      <p:ext uri="{BB962C8B-B14F-4D97-AF65-F5344CB8AC3E}">
        <p14:creationId xmlns:p14="http://schemas.microsoft.com/office/powerpoint/2010/main" val="2641215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theme/theme1.xml><?xml version="1.0" encoding="utf-8"?>
<a:theme xmlns:a="http://schemas.openxmlformats.org/drawingml/2006/main" name="MIS Template">
  <a:themeElements>
    <a:clrScheme name="MIS 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IS Template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333399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333399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MIS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S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S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S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S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S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S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S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S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S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S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S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4069</TotalTime>
  <Words>420</Words>
  <Application>Microsoft Office PowerPoint</Application>
  <PresentationFormat>Custom</PresentationFormat>
  <Paragraphs>76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MIS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Publication Reward</dc:title>
  <dc:creator>Admin</dc:creator>
  <cp:lastModifiedBy>mylaptop</cp:lastModifiedBy>
  <cp:revision>437</cp:revision>
  <dcterms:created xsi:type="dcterms:W3CDTF">2017-10-27T12:24:27Z</dcterms:created>
  <dcterms:modified xsi:type="dcterms:W3CDTF">2023-12-10T14:55:26Z</dcterms:modified>
</cp:coreProperties>
</file>